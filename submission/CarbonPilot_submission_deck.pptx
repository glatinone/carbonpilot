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problem, not the product. The live URL is on the cover; if the venue network fails, this deck is the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persona: a sustainability or operations manager who has the data and keeps being asked ‘what do we do next?’ Do not say ‘all companies’.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JAPAC relevance: a regional benchmark is exactly what a JAPAC judge should expect — and the finding is real, not a demo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loop once, top to bottom. Each stage is its own engine and its own screen — six screens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‘is this just an LLM wrapper?’. Land it before showing any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the 15% out loud, then read the result out loud. The 33.8% and the $775K saving are real, from the deployed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oversell the agent. Say exactly what it does: forced first tool call, retrieval that cites, and the smoke test that fails when the key quietly stops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slide: every acceptance claim in this deck maps to a command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Concede the category first; naming the incumbents makes the narrow claim credible. Then close on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here is honest: the benchmark is open data, the product is bilingual, and the engine-over-model rule is the transferable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 and scalability in one slide: the next steps are additions to a pipeline that already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loop and the URL. The repo goes public the moment the submission goes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JAPAC AI BUILDER CUP 2026 ·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4150F"/>
                </a:solidFill>
                <a:latin typeface="Source Serif 4"/>
              </a:rPr>
              <a:t>CarbonPilot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 i="0">
                <a:solidFill>
                  <a:srgbClr val="33332E"/>
                </a:solidFill>
                <a:latin typeface="Inter"/>
              </a:rPr>
              <a:t>An AI carbon decision engine. It turns fragmented operational data into prioritised, financially-aware decarbonisation actions — and every number it prints is traceable to a calculation engine, never to the language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2452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50F"/>
                </a:solidFill>
                <a:latin typeface="IBM Plex Mono"/>
              </a:rPr>
              <a:t>Measure</a:t>
            </a:r>
            <a:r>
              <a:rPr sz="1600" b="0" i="0">
                <a:solidFill>
                  <a:srgbClr val="C9C6BA"/>
                </a:solidFill>
                <a:latin typeface="IBM Plex Mono"/>
              </a:rPr>
              <a:t>   →   </a:t>
            </a:r>
            <a:r>
              <a:rPr sz="1600" b="1" i="0">
                <a:solidFill>
                  <a:srgbClr val="14150F"/>
                </a:solidFill>
                <a:latin typeface="IBM Plex Mono"/>
              </a:rPr>
              <a:t>Diagnose</a:t>
            </a:r>
            <a:r>
              <a:rPr sz="1600" b="0" i="0">
                <a:solidFill>
                  <a:srgbClr val="C9C6BA"/>
                </a:solidFill>
                <a:latin typeface="IBM Plex Mono"/>
              </a:rPr>
              <a:t>   →   </a:t>
            </a:r>
            <a:r>
              <a:rPr sz="1600" b="1" i="0">
                <a:solidFill>
                  <a:srgbClr val="14150F"/>
                </a:solidFill>
                <a:latin typeface="IBM Plex Mono"/>
              </a:rPr>
              <a:t>Simulate</a:t>
            </a:r>
            <a:r>
              <a:rPr sz="1600" b="0" i="0">
                <a:solidFill>
                  <a:srgbClr val="C9C6BA"/>
                </a:solidFill>
                <a:latin typeface="IBM Plex Mono"/>
              </a:rPr>
              <a:t>   →   </a:t>
            </a:r>
            <a:r>
              <a:rPr sz="1600" b="1" i="0">
                <a:solidFill>
                  <a:srgbClr val="14150F"/>
                </a:solidFill>
                <a:latin typeface="IBM Plex Mono"/>
              </a:rP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D6D63"/>
                </a:solidFill>
                <a:latin typeface="IBM Plex Mono"/>
              </a:rPr>
              <a:t>rakazo-civo.tail1b51ed.ts.net:8443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94360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Working prototype · Gemini-driven agent over a deterministic engine · six screens, one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4150F"/>
                </a:solidFill>
                <a:latin typeface="Source Serif 4"/>
              </a:rPr>
              <a:t>Companies can already measure their carbon. They still cannot decide what to do about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63093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01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The data exists, the decision does not.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Electricity, cloud, travel, fleet and procurement sit in CSVs and ERP exports. Aggregating them produces a number, not a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15768"/>
            <a:ext cx="63093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02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Reporting is a backward view.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A footprint tells you where you were. Management asks what changes next — and what it will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82696"/>
            <a:ext cx="63093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74136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03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Carbon and money are decided separately.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The largest reduction is often the most expensive, and nobody can see the trade-off in one place.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2860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IN THE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606040"/>
            <a:ext cx="2651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7340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DEMO 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99008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4150F"/>
                </a:solidFill>
                <a:latin typeface="IBM Plex Mono"/>
              </a:rPr>
              <a:t>11,208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5021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tCO₂e / 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977639"/>
            <a:ext cx="2651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410565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SCOPE 3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361687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4150F"/>
                </a:solidFill>
                <a:latin typeface="IBM Plex Mono"/>
              </a:rPr>
              <a:t>61.1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87375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2120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50" b="0" i="0">
                <a:solidFill>
                  <a:srgbClr val="14150F"/>
                </a:solidFill>
                <a:latin typeface="Source Serif 4"/>
              </a:rPr>
              <a:t>Knowing you emit eleven thousand tonnes does not tell you what to do next.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Demo company: 168 activity records, 12 months, across electricity, cloud, travel, fleet and procurement.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THE MOTIVATING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14150F"/>
                </a:solidFill>
                <a:latin typeface="Source Serif 4"/>
              </a:rPr>
              <a:t>The same load is 3,036 tonnes here — and 399 in New Zealand. Location is a decision variable, not a footnote.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237744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682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50F"/>
                </a:solidFill>
                <a:latin typeface="IBM Plex Mono"/>
              </a:rPr>
              <a:t>4,304,333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kWh / 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240280"/>
            <a:ext cx="237744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3682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INDONESIA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24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C5A12"/>
                </a:solidFill>
                <a:latin typeface="IBM Plex Mono"/>
              </a:rPr>
              <a:t>3,036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36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tCO₂e · rank 19/20 · coal 69%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240280"/>
            <a:ext cx="237744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682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NEW ZEALAND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24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50F"/>
                </a:solidFill>
                <a:latin typeface="IBM Plex Mono"/>
              </a:rPr>
              <a:t>399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136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tCO₂e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977639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69079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01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Benchmarked, not estimated.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Twenty JAPAC grids from Ember Yearly Electricity Data (CC BY 4.0), one documented basis, labelled explicitly.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44567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36007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02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Grid choice outweighs most single actions.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No reporting tool surfaces this — it sits in a footnote of the accounting exercise today.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Basis: full-lifecycle CO₂e intensity per kWh, Ember Yearly Electricity Data (CC BY 4.0). The product labels basis on every row; benchmark and inventory bases are never averaged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14150F"/>
                </a:solidFill>
                <a:latin typeface="Source Serif 4"/>
              </a:rPr>
              <a:t>It answers the question after the footprint.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07492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9A8E"/>
                </a:solidFill>
                <a:latin typeface="IBM Plex Mono"/>
              </a:rPr>
              <a:t>01</a:t>
            </a:r>
          </a:p>
          <a:p>
            <a:pPr algn="l"/>
            <a:r>
              <a:rPr sz="1900" b="1" i="0">
                <a:solidFill>
                  <a:srgbClr val="14150F"/>
                </a:solidFill>
                <a:latin typeface="Source Serif 4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008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32E"/>
                </a:solidFill>
                <a:latin typeface="Inter"/>
              </a:rPr>
              <a:t>A CSV is mapped to canonical activity types and scopes. The interpretation is shown for confirmation before anything is written.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2240280"/>
            <a:ext cx="507492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350008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9A8E"/>
                </a:solidFill>
                <a:latin typeface="IBM Plex Mono"/>
              </a:rPr>
              <a:t>02</a:t>
            </a:r>
          </a:p>
          <a:p>
            <a:pPr algn="l"/>
            <a:r>
              <a:rPr sz="1900" b="1" i="0">
                <a:solidFill>
                  <a:srgbClr val="14150F"/>
                </a:solidFill>
                <a:latin typeface="Source Serif 4"/>
              </a:rP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99008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32E"/>
                </a:solidFill>
                <a:latin typeface="Inter"/>
              </a:rPr>
              <a:t>A robust median/MAD test finds the months that moved, then attributes each one to the activities that moved with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14799"/>
            <a:ext cx="507492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24527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9A8E"/>
                </a:solidFill>
                <a:latin typeface="IBM Plex Mono"/>
              </a:rPr>
              <a:t>03</a:t>
            </a:r>
          </a:p>
          <a:p>
            <a:pPr algn="l"/>
            <a:r>
              <a:rPr sz="1900" b="1" i="0">
                <a:solidFill>
                  <a:srgbClr val="14150F"/>
                </a:solidFill>
                <a:latin typeface="Source Serif 4"/>
              </a:rPr>
              <a:t>Simulate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64607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32E"/>
                </a:solidFill>
                <a:latin typeface="Inter"/>
              </a:rPr>
              <a:t>Interventions are applied to the stored baseline; a constraint search explores combinations of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4114799"/>
            <a:ext cx="507492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224527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9A8E"/>
                </a:solidFill>
                <a:latin typeface="IBM Plex Mono"/>
              </a:rPr>
              <a:t>04</a:t>
            </a:r>
          </a:p>
          <a:p>
            <a:pPr algn="l"/>
            <a:r>
              <a:rPr sz="1900" b="1" i="0">
                <a:solidFill>
                  <a:srgbClr val="14150F"/>
                </a:solidFill>
                <a:latin typeface="Source Serif 4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864607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32E"/>
                </a:solidFill>
                <a:latin typeface="Inter"/>
              </a:rPr>
              <a:t>Recommendations are ranked on carbon × cost × effort, weighted by factor confidence, and tracked to an owner.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Six screens, one loop: each stage is its own engine and its own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THE ONE ARCHITECTURAL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4150F"/>
                </a:solidFill>
                <a:latin typeface="Source Serif 4"/>
              </a:rPr>
              <a:t>The language model never produces a carbon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50F"/>
                </a:solidFill>
                <a:latin typeface="Source Serif 4"/>
              </a:rPr>
              <a:t>The engine computes. The agent explains.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88920"/>
            <a:ext cx="4937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4892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332E"/>
                </a:solidFill>
                <a:latin typeface="Inter"/>
              </a:rPr>
              <a:t>Every kilogram of CO₂ is computed by a deterministic, unit-tested engine in app/engine/. The model chooses which analyses to run and explains the result — so its failure mode is “I could not find that”, never “here is a plausible number”.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50F"/>
                </a:solidFill>
                <a:latin typeface="Source Serif 4"/>
              </a:rPr>
              <a:t>Every recommendation shows its arithmetic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788920"/>
            <a:ext cx="4937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71800"/>
            <a:ext cx="4892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332E"/>
                </a:solidFill>
                <a:latin typeface="Inter"/>
              </a:rPr>
              <a:t>the quantity, the factor, the factor’s source and year, and the uncertainty. A judge can ask why a factor is defensible and get a cited answer, not a recollection.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THE INTERACTION WORTH SHOWING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50F"/>
                </a:solidFill>
                <a:latin typeface="Source Serif 4"/>
              </a:rPr>
              <a:t>“Reduce our footprint 15% without increasing operating cost.”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D6D63"/>
                </a:solidFill>
                <a:latin typeface="Inter"/>
              </a:rPr>
              <a:t>One sentence in. A constraint search over 2,098 scenario combinations out. Real result, from the deployed instance: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2651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97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CARBON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C4B36"/>
                </a:solidFill>
                <a:latin typeface="IBM Plex Mono"/>
              </a:rPr>
              <a:t>33.8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27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331720"/>
            <a:ext cx="2651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4597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CARBON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15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C4B36"/>
                </a:solidFill>
                <a:latin typeface="IBM Plex Mono"/>
              </a:rPr>
              <a:t>3,790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27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tCO₂e / yr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331720"/>
            <a:ext cx="2651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4597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COST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15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C4B36"/>
                </a:solidFill>
                <a:latin typeface="IBM Plex Mono"/>
              </a:rPr>
              <a:t>−$775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27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K / 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331720"/>
            <a:ext cx="26517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4597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FEASIBLE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7157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150F"/>
                </a:solidFill>
                <a:latin typeface="IBM Plex Mono"/>
              </a:rPr>
              <a:t>342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227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of 2,098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9476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WHAT THE ENGINE PUT IN THE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069080"/>
            <a:ext cx="557784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4150F"/>
                </a:solidFill>
                <a:latin typeface="Inter"/>
              </a:rPr>
              <a:t>Renewable PPA for purchased electricity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605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4B36"/>
                </a:solidFill>
                <a:latin typeface="IBM Plex Mono"/>
              </a:rPr>
              <a:t>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526280"/>
            <a:ext cx="557784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17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4150F"/>
                </a:solidFill>
                <a:latin typeface="Inter"/>
              </a:rPr>
              <a:t>Mandate rail over short-haul flights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617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4B36"/>
                </a:solidFill>
                <a:latin typeface="IBM Plex Mono"/>
              </a:rPr>
              <a:t>45%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983480"/>
            <a:ext cx="557784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4150F"/>
                </a:solidFill>
                <a:latin typeface="Inter"/>
              </a:rPr>
              <a:t>Electrify the delivery fleet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0749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4B36"/>
                </a:solidFill>
                <a:latin typeface="IBM Plex Mono"/>
              </a:rPr>
              <a:t>40%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440680"/>
            <a:ext cx="557784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4150F"/>
                </a:solidFill>
                <a:latin typeface="Inter"/>
              </a:rPr>
              <a:t>Supplier engagement and low-carbon sourcing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5321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4B36"/>
                </a:solidFill>
                <a:latin typeface="IBM Plex Mono"/>
              </a:rPr>
              <a:t>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93192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14150F"/>
                </a:solidFill>
                <a:latin typeface="Source Serif 4"/>
              </a:rPr>
              <a:t>Asked for 15%. It returned a plan that clears the carbon constraint and saves money — and can say why each action is in 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Constraint search over a stored baseline; every scenario in the result satisfies both constraints by construction (tested).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50F"/>
                </a:solidFill>
                <a:latin typeface="Source Serif 4"/>
              </a:rPr>
              <a:t>An agent that orchestrates tools, over an engine that cannot be argued with.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49377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50F"/>
                </a:solidFill>
                <a:latin typeface="Inter"/>
              </a:rPr>
              <a:t>13 tools — and the first turn is forced to call one.  </a:t>
            </a:r>
            <a:r>
              <a:rPr sz="1150" b="0" i="0">
                <a:solidFill>
                  <a:srgbClr val="33332E"/>
                </a:solidFill>
                <a:latin typeface="Inter"/>
              </a:rPr>
              <a:t>The model cannot answer a quantitative question from its own 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49377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50F"/>
                </a:solidFill>
                <a:latin typeface="Inter"/>
              </a:rPr>
              <a:t>Cited retrieval.  </a:t>
            </a:r>
            <a:r>
              <a:rPr sz="1150" b="0" i="0">
                <a:solidFill>
                  <a:srgbClr val="33332E"/>
                </a:solidFill>
                <a:latin typeface="Inter"/>
              </a:rPr>
              <a:t>A pure-stdlib BM25 ranker pulls the methodology passages behind a claim, so “why is that factor defensible” is answered from a source of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28416"/>
            <a:ext cx="49377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50F"/>
                </a:solidFill>
                <a:latin typeface="Inter"/>
              </a:rPr>
              <a:t>One process.  </a:t>
            </a:r>
            <a:r>
              <a:rPr sz="1150" b="0" i="0">
                <a:solidFill>
                  <a:srgbClr val="33332E"/>
                </a:solidFill>
                <a:latin typeface="Inter"/>
              </a:rPr>
              <a:t>FastAPI serves the UI and the API on a single port: no CORS layer, no second deployment, no vendor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194560"/>
            <a:ext cx="49377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50F"/>
                </a:solidFill>
                <a:latin typeface="Inter"/>
              </a:rPr>
              <a:t>Stack  </a:t>
            </a:r>
            <a:r>
              <a:rPr sz="1150" b="0" i="0">
                <a:solidFill>
                  <a:srgbClr val="33332E"/>
                </a:solidFill>
                <a:latin typeface="Inter"/>
              </a:rPr>
              <a:t>Next.js static export · FastAPI · SQLite · Gemini over a gateway key · i18n EN/ID with no extra dependency.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761488"/>
            <a:ext cx="49377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852928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50F"/>
                </a:solidFill>
                <a:latin typeface="Inter"/>
              </a:rPr>
              <a:t>Deployment  </a:t>
            </a:r>
            <a:r>
              <a:rPr sz="1150" b="0" i="0">
                <a:solidFill>
                  <a:srgbClr val="33332E"/>
                </a:solidFill>
                <a:latin typeface="Inter"/>
              </a:rPr>
              <a:t>One systemd unit behind a Tailscale Funnel today; Cloud Run / Firebase is the judging-path deployment, kept to a single command.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328416"/>
            <a:ext cx="49377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419856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50F"/>
                </a:solidFill>
                <a:latin typeface="Inter"/>
              </a:rPr>
              <a:t>Honest scope  </a:t>
            </a:r>
            <a:r>
              <a:rPr sz="1150" b="0" i="0">
                <a:solidFill>
                  <a:srgbClr val="33332E"/>
                </a:solidFill>
                <a:latin typeface="Inter"/>
              </a:rPr>
              <a:t>No compliance reporting (CSRD, SB 253, CDP), no supplier portal or ERP connectors, curated point factors, linear scenario maths — stated, not discovered.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Stated boundaries, not avoided ones — the honesty a judge should hear before the room 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VERIFIED, NOT CLAIMED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14150F"/>
                </a:solidFill>
                <a:latin typeface="Source Serif 4"/>
              </a:rPr>
              <a:t>105 tests. A smoke test that fails on a working-looking key. One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01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Behaviour contracts, not snapshots.  </a:t>
            </a:r>
            <a:r>
              <a:rPr sz="1300" b="0" i="0">
                <a:solidFill>
                  <a:srgbClr val="33332E"/>
                </a:solidFill>
                <a:latin typeface="Inter"/>
              </a:rPr>
              <a:t>A projection plus its saving equals the baseline. Constraint search only ever returns scenarios that satisfy the constraints. 105 tests, runnable without credentials.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02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Preflight makes invisible failure visible.  </a:t>
            </a:r>
            <a:r>
              <a:rPr sz="1300" b="0" i="0">
                <a:solidFill>
                  <a:srgbClr val="33332E"/>
                </a:solidFill>
                <a:latin typeface="Inter"/>
              </a:rPr>
              <a:t>A dead key produces no error — it produces a correct answer from the deterministic router while the UI still claims the model. The smoke test exists to catch exactly that.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28416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03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Every claim checkable.  </a:t>
            </a:r>
            <a:r>
              <a:rPr sz="1300" b="0" i="0">
                <a:solidFill>
                  <a:srgbClr val="33332E"/>
                </a:solidFill>
                <a:latin typeface="Inter"/>
              </a:rPr>
              <a:t>pytest, tsc --noEmit, production build and preflight outputs are in the repository with the commands that produced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Verified 2026-10-04: backend 32s · frontend typecheck + static export ~1 min · preflight READY, 13 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14150F"/>
                </a:solidFill>
                <a:latin typeface="Source Serif 4"/>
              </a:rPr>
              <a:t>From carbon accounting to carbon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THE CATEGORY, CONCEDED AND NARROWED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23160"/>
            <a:ext cx="58521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0545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5054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CarbonPilot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98648"/>
            <a:ext cx="58521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8094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809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Measure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74136"/>
            <a:ext cx="58521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4564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Diagnose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849624"/>
            <a:ext cx="58521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Simulate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325112"/>
            <a:ext cx="58521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0740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4074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50F"/>
                </a:solidFill>
                <a:latin typeface="Inter"/>
              </a:rPr>
              <a:t>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800600"/>
            <a:ext cx="585216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8289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6D6D63"/>
                </a:solidFill>
                <a:latin typeface="IBM Plex Mono"/>
              </a:rPr>
              <a:t>Ranked by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8828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4B36"/>
                </a:solidFill>
                <a:latin typeface="IBM Plex Mono"/>
              </a:rPr>
              <a:t>Ranked by carbon × cost × effort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4297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14150F"/>
                </a:solidFill>
                <a:latin typeface="Source Serif 4"/>
              </a:rPr>
              <a:t>Watershed, Persefoni, Sweep and SINAI already do accounting, ingestion and scenario planning. We do not claim to be the first AI carbon platform. The narrower claim: their AI targets the input pipeline — ours is a contract on the output.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892040"/>
            <a:ext cx="429768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07492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4150F"/>
                </a:solidFill>
                <a:latin typeface="Source Serif 4"/>
              </a:rPr>
              <a:t>Carbon reporting tells you where you are. CarbonPilot tells you what to do next.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Demonstration build — stated boundaries, not avoided 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IMPACT &amp;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4150F"/>
                </a:solidFill>
                <a:latin typeface="Source Serif 4"/>
              </a:rPr>
              <a:t>Built for grids that make decarbonisation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640080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01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A public facility, not a slide.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Twenty JAPAC grids, one documented basis, built on CC BY 4.0 open data — reusable by any team in the region.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640080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02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Bilingual EN/ID.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Reach into regional mid-market teams that reporting platforms under-serve.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28416"/>
            <a:ext cx="6400800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03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250" b="1" i="0">
                <a:solidFill>
                  <a:srgbClr val="14150F"/>
                </a:solidFill>
                <a:latin typeface="Inter"/>
              </a:rPr>
              <a:t>A pattern that generalises.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Wherever a model could plausibly invent a number, don’t let it. A deterministic engine with an explaining agent is the audit-grade shape for quantified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331720"/>
            <a:ext cx="31089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4597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GRIDS BENCHMARKED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157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50F"/>
                </a:solidFill>
                <a:latin typeface="IBM Plex Mono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278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JAPAC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94760"/>
            <a:ext cx="31089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9227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788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50F"/>
                </a:solidFill>
                <a:latin typeface="IBM Plex Mon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6908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EN /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5257800"/>
            <a:ext cx="3108960" cy="254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53858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9A9A8E"/>
                </a:solidFill>
                <a:latin typeface="IBM Plex Mono"/>
              </a:rPr>
              <a:t>TESTS 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6418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150F"/>
                </a:solidFill>
                <a:latin typeface="IBM Plex Mono"/>
              </a:rPr>
              <a:t>105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1539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D6D63"/>
                </a:solidFill>
                <a:latin typeface="IBM Plex Mono"/>
              </a:rPr>
              <a:t>pytest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75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9A9A8E"/>
                </a:solidFill>
                <a:latin typeface="IBM Plex Mono"/>
              </a:rPr>
              <a:t>CarbonPilot  ·  JAPAC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A9A8E"/>
                </a:solidFill>
                <a:latin typeface="IBM Plex Mono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SCALING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14150F"/>
                </a:solidFill>
                <a:latin typeface="Source Serif 4"/>
              </a:rPr>
              <a:t>From CSV to the mid-market ERP.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01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300" b="1" i="0">
                <a:solidFill>
                  <a:srgbClr val="14150F"/>
                </a:solidFill>
                <a:latin typeface="Inter"/>
              </a:rPr>
              <a:t>Connectors over CSVs.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AWS / GCP / Azure billing, Xero, SAP — per-account mapping on the same ingestion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02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300" b="1" i="0">
                <a:solidFill>
                  <a:srgbClr val="14150F"/>
                </a:solidFill>
                <a:latin typeface="Inter"/>
              </a:rPr>
              <a:t>Compliance modules on the same ledger.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CSRD, SB 253, CDP reports from the same audit trail, not a separate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28416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03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300" b="1" i="0">
                <a:solidFill>
                  <a:srgbClr val="14150F"/>
                </a:solidFill>
                <a:latin typeface="Inter"/>
              </a:rPr>
              <a:t>Multi-tenancy and factor services.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Climatiq is wired and config-ready; isolation is the next engineering step, not an open question.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95344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86784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9A8E"/>
                </a:solidFill>
                <a:latin typeface="IBM Plex Mono"/>
              </a:rPr>
              <a:t>04</a:t>
            </a:r>
            <a:r>
              <a:rPr sz="900" b="0" i="0">
                <a:solidFill>
                  <a:srgbClr val="9A9A8E"/>
                </a:solidFill>
                <a:latin typeface="IBM Plex Mono"/>
              </a:rPr>
              <a:t>   </a:t>
            </a:r>
            <a:r>
              <a:rPr sz="1300" b="1" i="0">
                <a:solidFill>
                  <a:srgbClr val="14150F"/>
                </a:solidFill>
                <a:latin typeface="Inter"/>
              </a:rPr>
              <a:t>Trivial ops by construction.  </a:t>
            </a:r>
            <a:r>
              <a:rPr sz="1250" b="0" i="0">
                <a:solidFill>
                  <a:srgbClr val="33332E"/>
                </a:solidFill>
                <a:latin typeface="Inter"/>
              </a:rPr>
              <a:t>Static export + one process today; Cloud Run / Firebase is the scale path with no architectural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30936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8251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The boundaries in this deck are the honest ones: no compliance reporting yet, curated factors, linear scenario maths.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160">
                <a:solidFill>
                  <a:srgbClr val="9A9A8E"/>
                </a:solidFill>
                <a:latin typeface="IBM Plex Mon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4150F"/>
                </a:solidFill>
                <a:latin typeface="Source Serif 4"/>
              </a:rPr>
              <a:t>From carbon accounting to carbon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50F"/>
                </a:solidFill>
                <a:latin typeface="IBM Plex Mono"/>
              </a:rPr>
              <a:t>Measure</a:t>
            </a:r>
            <a:r>
              <a:rPr sz="1600" b="0" i="0">
                <a:solidFill>
                  <a:srgbClr val="C9C6BA"/>
                </a:solidFill>
                <a:latin typeface="IBM Plex Mono"/>
              </a:rPr>
              <a:t>   →   </a:t>
            </a:r>
            <a:r>
              <a:rPr sz="1600" b="1" i="0">
                <a:solidFill>
                  <a:srgbClr val="14150F"/>
                </a:solidFill>
                <a:latin typeface="IBM Plex Mono"/>
              </a:rPr>
              <a:t>Diagnose</a:t>
            </a:r>
            <a:r>
              <a:rPr sz="1600" b="0" i="0">
                <a:solidFill>
                  <a:srgbClr val="C9C6BA"/>
                </a:solidFill>
                <a:latin typeface="IBM Plex Mono"/>
              </a:rPr>
              <a:t>   →   </a:t>
            </a:r>
            <a:r>
              <a:rPr sz="1600" b="1" i="0">
                <a:solidFill>
                  <a:srgbClr val="14150F"/>
                </a:solidFill>
                <a:latin typeface="IBM Plex Mono"/>
              </a:rPr>
              <a:t>Simulate</a:t>
            </a:r>
            <a:r>
              <a:rPr sz="1600" b="0" i="0">
                <a:solidFill>
                  <a:srgbClr val="C9C6BA"/>
                </a:solidFill>
                <a:latin typeface="IBM Plex Mono"/>
              </a:rPr>
              <a:t>   →   </a:t>
            </a:r>
            <a:r>
              <a:rPr sz="1600" b="1" i="0">
                <a:solidFill>
                  <a:srgbClr val="14150F"/>
                </a:solidFill>
                <a:latin typeface="IBM Plex Mono"/>
              </a:rPr>
              <a:t>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D6D63"/>
                </a:solidFill>
                <a:latin typeface="IBM Plex Mono"/>
              </a:rPr>
              <a:t>rakazo-civo.tail1b51ed.ts.net:8443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332E"/>
                </a:solidFill>
                <a:latin typeface="Inter"/>
              </a:rPr>
              <a:t>CarbonPilot — an AI carbon decision engine for JAPAC, built on Google AI, submitted to the AI Builder Cup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943600"/>
            <a:ext cx="10545775" cy="12700"/>
          </a:xfrm>
          <a:prstGeom prst="rect">
            <a:avLst/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16752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D6D63"/>
                </a:solidFill>
                <a:latin typeface="Inter"/>
              </a:rPr>
              <a:t>Prototype live · repository public at submission · proposal deck and 3-minute demo video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